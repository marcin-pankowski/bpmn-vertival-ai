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stieg" id="{1dd13924-1de8-7080-a03b-9405e68dc10c}">
          <p14:sldIdLst>
            <p14:sldId id="256"/>
            <p14:sldId id="257"/>
          </p14:sldIdLst>
        </p14:section>
        <p14:section name="Use Case und Prozess" id="{f1b358f4-d661-0e16-2721-aa272c54ae90}">
          <p14:sldIdLst>
            <p14:sldId id="258"/>
            <p14:sldId id="259"/>
            <p14:sldId id="260"/>
          </p14:sldIdLst>
        </p14:section>
        <p14:section name="Daten und Modell" id="{6600d2bd-7de9-cd96-bccf-a8cbce51dc35}">
          <p14:sldIdLst>
            <p14:sldId id="261"/>
            <p14:sldId id="262"/>
            <p14:sldId id="263"/>
            <p14:sldId id="264"/>
          </p14:sldIdLst>
        </p14:section>
        <p14:section name="Demo" id="{4c690564-a38e-1468-34f4-eefd568a1519}">
          <p14:sldIdLst>
            <p14:sldId id="265"/>
            <p14:sldId id="266"/>
          </p14:sldIdLst>
        </p14:section>
        <p14:section name="Abschluss" id="{234a43be-0d71-a87c-0adb-affc18e4f057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Vertical AI am Beispiel KYC: Regeln, ein lokal trainiertes Entscheidungsmodell und die manuelle Prüfung im BPMN-Prozess.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Anekdote: TL;DR kennt man von langen Texten – hier die Kurzfassung des Vortrags vorweg.
1. Regeln: DMN-Regeln entscheiden in 1 ms, Laya in 80–250 ms, ein Mensch in Minuten. R4 (USA-Bezug) war in Minuten umgesetzt, eine Korrektur am Modell kostete ein Neutraining.
2. Vertical AI schützt interne Daten: Modell läuft und lernt im eigenen Haus auf einem Mac; keine Kundendaten verlassen die Bank.
3. Das Modell reagierte auf den Dokumenttyp 'Rücklagenbestätigung' statt auf die Wohnadresse an der Reeperbahn.
4. Regeltrigger kann das Modell nicht aufheben; bei technischem Fehler geht der Fall in die manuelle Prüfung.
5. 322 Mio. Parameter, Training in rund 1,5 Stunden auf einem Mac.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Frage: Muss dieser Antrag vor der Kontoanlage manuell geprüft werden oder kann er automatisch freigegeben werden? Ausgangslage: Identität ist geprüft; bewertet werden Selbstauskunft, Screening und eingereichte Unterlagen. Drei Ausgänge: automatische Freigabe, Ablehnung bei eindeutigem Ausschlussgrund (z. B. bestätigter Sanktionstreffer) oder manuelle Prüfung. Dilemma: alles manuell prüfen ist teuer, alles automatisch freigeben ist riskant. Fiktive Demo-Richtlinie, synthetische Daten.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Ablauf: Regeln (DMN) → Prüfung mit LLM (Laya) → Gateway → manuelle Prüfung → Freigabe oder Ablehnung. Automatische Freigabe nur bei grünen Regeln UND LLM-Entscheidung 'keine manuelle Prüfung'. Ein bestätigter Sanktionstreffer (R5) lehnt direkt am ersten Gateway ab, ohne LLM. Fällt Laya aus, geht der Fall in die manuelle Prüfung. Ausgeführt mit Kogito 10.2.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Entscheidungstabelle KYC_RuleCheck mit Trefferpolitik COLLECT; R1–R4 erzwingen die manuelle Prüfung. R5 (bestätigter Sanktionstreffer) ist der einzige Ausschlussgrund: Ablehnung ohne LLM und ohne manuelle Prüfung. R4 (USA-Bezug: US-Steuerpflicht, FATCA, Staatsangehörigkeit, Ansässigkeit oder Adresse USA) war in Minuten ergänzt – ohne Training. Zurück zu Kernaussage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Ohne Beispiele kein Training: Das Modell lernt aus Fällen mit bekannter Sollentscheidung. Start mit 5.000 synthetischen Anträgen, später auf 6.000 erweitert. Motive z. B. K11 (Privatkonto, aber geschäftliche Nutzung), K03 (Darlehen statt Einnahmen). Grenze: Texte aus Vorlagen.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Entscheidungsmodell statt Chatbot: schnell (80–250 ms), lokal, Apache-2.0; liefert Entscheidung und Wahrscheinlichkeiten, keine Begründung. Training auf dem Mac (PyTorch MPS): vorher 246 unnötige Prüfungen von 250, nachher 0. Weitere Modelle möglich, z. B. Qwen3.5-4B mit LLM2Jev (größer, kann zusätzlich Text erzeugen) oder andere Laya-Varianten.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Gemessen auf einem Mac M1 Max: 5.000 Datensätze (4.000 Training, 3 Epochen) in 97,6 Minuten; v2 mit 6.000 Datensätzen (2 Epochen) in 66 Minuten. Das sind rund 0,45 Sekunden je Trainingsfall und Epoche. Die übrigen Werte sind linear hochgerechnet (80 % Training, 3 Epochen): 20.000 in etwa 6 Stunden, 50.000 in etwa 15 Stunden – also über Nacht. 1.000.000 bräuchte auf dem Mac rund 12 Tage; bei so vielen Daten reicht oft 1 Epoche (rund 4 Tage), sinnvoller ist dann ein GPU-Server (nicht gemessen). Wiederholen: Daten ergänzen (augment_dataset.py, Sekunden), trainieren (kyc_train.py), prüfen mit Testsplit und Gegenproben (Minuten), dann im Laya-Dienst das Modell tauschen (LAYA_MODEL, Neustart in Sekunden). BPMN und DMN bleiben unverändert. Beispiel v2: Die Reeperbahn-Abkürzung wurde mit 1.000 neuen Varianten in gut einer Stunde Training behoben; trainiert wurde ab dem Zwischenstand nach Epoche 1, nicht von vorn.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Datenschutz: Kundendaten gingen an einen externen Dienst – widerspricht Kernaussage 2. Kosten und Tempo: pro Antrag Sekunden und Gebühren je Token statt Millisekunden auf eigener Hardware. Kontrolle: nicht im eigenen Haus auf die eigene Richtlinie trainierbar, Modellversionen wechseln beim Anbieter. Prüfbarkeit: freier Text statt fester Entscheidung mit Wahrscheinlichkeit. Fairerweise: Ein großes LLM könnte Begründungen formulieren – das kann Laya nicht.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K01: automatische Freigabe. K11: Privatkonto mit geplanter Geschäftsnutzung – Laya schickt in die Prüfung. K06: Laya sagt ok, Regel R4 erzwingt die Prüfung. K15: bestätigter Sanktionstreffer, R5 lehnt sofort ab – Laya wird gar nicht gefragt. K13/K14: Karl (Wohnadresse Reeperbahn) gegen Marcin (nur Arbeitgeber an der Reeperbahn). Danach manuelle Prüfung im Postkorb und Ablauf im Dashboard. Weboberfläche: http://localhost:8080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Demo läuft auf Kogito 10.2 (Apache KIE) als Quarkus-Microservice: BPMN-Prozess und DMN-Regeln werden beim Build zu Java-Code, jeder Prozess bekommt automatisch eine REST-API, der Dienst startet in Sekunden. Ideal, wenn ein Prozess als eigener Dienst in eine Microservice-Landschaft gehört. Grenze: Kogito bringt für User Tasks nur eine API mit. Postkorb, Prüfmaske und Dashboard der Demo haben wir selbst gebaut; Rechte, Vertretung und Betrieb fehlen. Für die Einbindung im Unternehmen mit vielen Sachbearbeitern empfehlen wir CIB flow: Low-Code-BPM-Plattform der CIB software GmbH mit Taskliste, Formularbaukasten (EasyForm), Rechteverwaltung, Dokumenten-Viewer und Konnektoren zu REST-APIs, on-premise oder als SaaS. Engine ist CIB seven, ein Fork von Camunda 7. Die Regeln (DMN) und das Laya-Modell lassen sich dort genauso über einen Service-Task anbinden.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Minuten Fragerunde.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p/Documents/VSC-Projekte/Vorträge/Vertical AI/praesentation/assets/logo_pi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3840480" cy="56896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33172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5760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p/Documents/VSC-Projekte/Vorträge/Vertical AI/praesentation/assets/logo_pi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55080"/>
            <a:ext cx="1737360" cy="257387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7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7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3317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Vertical AI</a:t>
            </a:r>
            <a:endParaRPr lang="en-US" sz="5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36576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KYC-Prüfung mit Regeln, KI und manueller Prüfung</a:t>
            </a:r>
            <a:endParaRPr lang="en-US" sz="2200" dirty="0"/>
          </a:p>
        </p:txBody>
      </p:sp>
      <p:sp>
        <p:nvSpPr>
          <p:cNvPr id="4" name="Startereignis"/>
          <p:cNvSpPr/>
          <p:nvPr/>
        </p:nvSpPr>
        <p:spPr>
          <a:xfrm>
            <a:off x="548640" y="5394960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21212"/>
            </a:solidFill>
            <a:prstDash val="solid"/>
          </a:ln>
        </p:spPr>
      </p:sp>
      <p:sp>
        <p:nvSpPr>
          <p:cNvPr id="5" name="Sequenzfluss"/>
          <p:cNvSpPr/>
          <p:nvPr/>
        </p:nvSpPr>
        <p:spPr>
          <a:xfrm>
            <a:off x="932688" y="5586984"/>
            <a:ext cx="621792" cy="0"/>
          </a:xfrm>
          <a:prstGeom prst="line">
            <a:avLst/>
          </a:prstGeom>
          <a:noFill/>
          <a:ln w="19050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6" name="Aufgabe Regeln"/>
          <p:cNvSpPr/>
          <p:nvPr/>
        </p:nvSpPr>
        <p:spPr>
          <a:xfrm>
            <a:off x="1554480" y="5257800"/>
            <a:ext cx="1737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21212"/>
            </a:solidFill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Regeln</a:t>
            </a:r>
            <a:endParaRPr lang="en-US" sz="1400" dirty="0"/>
          </a:p>
        </p:txBody>
      </p:sp>
      <p:sp>
        <p:nvSpPr>
          <p:cNvPr id="7" name="Sequenzfluss"/>
          <p:cNvSpPr/>
          <p:nvPr/>
        </p:nvSpPr>
        <p:spPr>
          <a:xfrm>
            <a:off x="3291840" y="5586984"/>
            <a:ext cx="548640" cy="0"/>
          </a:xfrm>
          <a:prstGeom prst="line">
            <a:avLst/>
          </a:prstGeom>
          <a:noFill/>
          <a:ln w="19050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8" name="Aufgabe KI"/>
          <p:cNvSpPr/>
          <p:nvPr/>
        </p:nvSpPr>
        <p:spPr>
          <a:xfrm>
            <a:off x="3840480" y="5257800"/>
            <a:ext cx="1737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21212"/>
            </a:solidFill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KI</a:t>
            </a:r>
            <a:endParaRPr lang="en-US" sz="1400" dirty="0"/>
          </a:p>
        </p:txBody>
      </p:sp>
      <p:sp>
        <p:nvSpPr>
          <p:cNvPr id="9" name="Sequenzfluss"/>
          <p:cNvSpPr/>
          <p:nvPr/>
        </p:nvSpPr>
        <p:spPr>
          <a:xfrm>
            <a:off x="5577840" y="5586984"/>
            <a:ext cx="548640" cy="0"/>
          </a:xfrm>
          <a:prstGeom prst="line">
            <a:avLst/>
          </a:prstGeom>
          <a:noFill/>
          <a:ln w="19050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10" name="Aufgabe Mensch"/>
          <p:cNvSpPr/>
          <p:nvPr/>
        </p:nvSpPr>
        <p:spPr>
          <a:xfrm>
            <a:off x="6126480" y="5257800"/>
            <a:ext cx="1737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21212"/>
            </a:solidFill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Mensch</a:t>
            </a:r>
            <a:endParaRPr lang="en-US" sz="1400" dirty="0"/>
          </a:p>
        </p:txBody>
      </p:sp>
      <p:sp>
        <p:nvSpPr>
          <p:cNvPr id="11" name="Sequenzfluss"/>
          <p:cNvSpPr/>
          <p:nvPr/>
        </p:nvSpPr>
        <p:spPr>
          <a:xfrm>
            <a:off x="7863840" y="5586984"/>
            <a:ext cx="548640" cy="0"/>
          </a:xfrm>
          <a:prstGeom prst="line">
            <a:avLst/>
          </a:prstGeom>
          <a:noFill/>
          <a:ln w="19050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12" name="Endereignis"/>
          <p:cNvSpPr/>
          <p:nvPr/>
        </p:nvSpPr>
        <p:spPr>
          <a:xfrm>
            <a:off x="8412480" y="5394960"/>
            <a:ext cx="384048" cy="384048"/>
          </a:xfrm>
          <a:prstGeom prst="ellipse">
            <a:avLst/>
          </a:prstGeom>
          <a:solidFill>
            <a:srgbClr val="FFFFFF"/>
          </a:solidFill>
          <a:ln w="50800">
            <a:solidFill>
              <a:srgbClr val="12121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TL;DR – Too long, didn't read</a:t>
            </a:r>
            <a:endParaRPr lang="en-US" sz="3000" dirty="0"/>
          </a:p>
        </p:txBody>
      </p:sp>
      <p:sp>
        <p:nvSpPr>
          <p:cNvPr id="3" name="Zitatbalken"/>
          <p:cNvSpPr/>
          <p:nvPr/>
        </p:nvSpPr>
        <p:spPr>
          <a:xfrm>
            <a:off x="548640" y="1600200"/>
            <a:ext cx="68580" cy="4023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Kernaussage 1"/>
          <p:cNvSpPr txBox="1"/>
          <p:nvPr/>
        </p:nvSpPr>
        <p:spPr>
          <a:xfrm>
            <a:off x="868680" y="1600200"/>
            <a:ext cx="107743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1.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Regeln sind immer effizienter als Intelligenz – ob künstlich oder natürlich</a:t>
            </a:r>
            <a:endParaRPr lang="en-US" sz="1900" dirty="0"/>
          </a:p>
        </p:txBody>
      </p:sp>
      <p:sp>
        <p:nvSpPr>
          <p:cNvPr id="5" name="Kernaussage 2"/>
          <p:cNvSpPr txBox="1"/>
          <p:nvPr/>
        </p:nvSpPr>
        <p:spPr>
          <a:xfrm>
            <a:off x="868680" y="2441448"/>
            <a:ext cx="107743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2.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Vertical AI schützt interne Daten</a:t>
            </a:r>
            <a:endParaRPr lang="en-US" sz="1900" dirty="0"/>
          </a:p>
        </p:txBody>
      </p:sp>
      <p:sp>
        <p:nvSpPr>
          <p:cNvPr id="6" name="Kernaussage 3"/>
          <p:cNvSpPr txBox="1"/>
          <p:nvPr/>
        </p:nvSpPr>
        <p:spPr>
          <a:xfrm>
            <a:off x="868680" y="3282696"/>
            <a:ext cx="107743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3.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Das Modell lernt, was in den Daten steckt – nicht, was wir gern hätten!</a:t>
            </a:r>
            <a:endParaRPr lang="en-US" sz="1900" dirty="0"/>
          </a:p>
        </p:txBody>
      </p:sp>
      <p:sp>
        <p:nvSpPr>
          <p:cNvPr id="7" name="Kernaussage 4"/>
          <p:cNvSpPr txBox="1"/>
          <p:nvPr/>
        </p:nvSpPr>
        <p:spPr>
          <a:xfrm>
            <a:off x="868680" y="4123944"/>
            <a:ext cx="107743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4.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Der Prozess entscheidet, wann der Mensch prüft – nicht die KI</a:t>
            </a:r>
            <a:endParaRPr lang="en-US" sz="1900" dirty="0"/>
          </a:p>
        </p:txBody>
      </p:sp>
      <p:sp>
        <p:nvSpPr>
          <p:cNvPr id="8" name="Kernaussage 5"/>
          <p:cNvSpPr txBox="1"/>
          <p:nvPr/>
        </p:nvSpPr>
        <p:spPr>
          <a:xfrm>
            <a:off x="868680" y="4965192"/>
            <a:ext cx="107743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5.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Spezialisierte KI ist klein, lokal trainierbar, schnell und günstig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7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Use Case: KYC bei der Kontoeröffnung</a:t>
            </a:r>
            <a:endParaRPr lang="en-US" sz="3000" dirty="0"/>
          </a:p>
        </p:txBody>
      </p:sp>
      <p:sp>
        <p:nvSpPr>
          <p:cNvPr id="3" name="Untertitel"/>
          <p:cNvSpPr txBox="1"/>
          <p:nvPr/>
        </p:nvSpPr>
        <p:spPr>
          <a:xfrm>
            <a:off x="548640" y="1234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57575"/>
                </a:solidFill>
              </a:rPr>
              <a:t>Privatkunden · nach erfolgreicher Identitätsprüfung · vor der Kontoanlage</a:t>
            </a:r>
            <a:endParaRPr lang="en-US" sz="1600" dirty="0"/>
          </a:p>
        </p:txBody>
      </p:sp>
      <p:sp>
        <p:nvSpPr>
          <p:cNvPr id="4" name="Zitatbalken"/>
          <p:cNvSpPr/>
          <p:nvPr/>
        </p:nvSpPr>
        <p:spPr>
          <a:xfrm>
            <a:off x="548640" y="1965960"/>
            <a:ext cx="68580" cy="96012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5" name="Leitfrage"/>
          <p:cNvSpPr txBox="1"/>
          <p:nvPr/>
        </p:nvSpPr>
        <p:spPr>
          <a:xfrm>
            <a:off x="868680" y="1965960"/>
            <a:ext cx="10774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Muss dieser Antrag manuell geprüft werden?</a:t>
            </a:r>
            <a:endParaRPr lang="en-US" sz="2800" dirty="0"/>
          </a:p>
        </p:txBody>
      </p:sp>
      <p:sp>
        <p:nvSpPr>
          <p:cNvPr id="6" name="Startereignis"/>
          <p:cNvSpPr/>
          <p:nvPr/>
        </p:nvSpPr>
        <p:spPr>
          <a:xfrm>
            <a:off x="548640" y="4343400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21212"/>
            </a:solidFill>
            <a:prstDash val="solid"/>
          </a:ln>
        </p:spPr>
      </p:sp>
      <p:sp>
        <p:nvSpPr>
          <p:cNvPr id="7" name="Sequenzfluss"/>
          <p:cNvSpPr/>
          <p:nvPr/>
        </p:nvSpPr>
        <p:spPr>
          <a:xfrm>
            <a:off x="932688" y="4535424"/>
            <a:ext cx="530352" cy="0"/>
          </a:xfrm>
          <a:prstGeom prst="line">
            <a:avLst/>
          </a:prstGeom>
          <a:noFill/>
          <a:ln w="19050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8" name="Aufgabe Kontoantrag"/>
          <p:cNvSpPr/>
          <p:nvPr/>
        </p:nvSpPr>
        <p:spPr>
          <a:xfrm>
            <a:off x="1463040" y="4206240"/>
            <a:ext cx="21945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21212"/>
            </a:solidFill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Kontoantrag</a:t>
            </a:r>
            <a:endParaRPr lang="en-US" sz="1600" dirty="0"/>
          </a:p>
        </p:txBody>
      </p:sp>
      <p:sp>
        <p:nvSpPr>
          <p:cNvPr id="9" name="Sequenzfluss"/>
          <p:cNvSpPr/>
          <p:nvPr/>
        </p:nvSpPr>
        <p:spPr>
          <a:xfrm>
            <a:off x="3657600" y="4535424"/>
            <a:ext cx="548640" cy="0"/>
          </a:xfrm>
          <a:prstGeom prst="line">
            <a:avLst/>
          </a:prstGeom>
          <a:noFill/>
          <a:ln w="19050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10" name="Gateway"/>
          <p:cNvSpPr/>
          <p:nvPr/>
        </p:nvSpPr>
        <p:spPr>
          <a:xfrm>
            <a:off x="4206240" y="4192524"/>
            <a:ext cx="685800" cy="6858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2121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X</a:t>
            </a:r>
            <a:endParaRPr lang="en-US" sz="1600" dirty="0"/>
          </a:p>
        </p:txBody>
      </p:sp>
      <p:sp>
        <p:nvSpPr>
          <p:cNvPr id="11" name="Sequenzfluss"/>
          <p:cNvSpPr/>
          <p:nvPr/>
        </p:nvSpPr>
        <p:spPr>
          <a:xfrm flipV="1">
            <a:off x="4549140" y="3483864"/>
            <a:ext cx="0" cy="708660"/>
          </a:xfrm>
          <a:prstGeom prst="line">
            <a:avLst/>
          </a:prstGeom>
          <a:noFill/>
          <a:ln w="19050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12" name="Sequenzfluss"/>
          <p:cNvSpPr/>
          <p:nvPr/>
        </p:nvSpPr>
        <p:spPr>
          <a:xfrm>
            <a:off x="4549140" y="3483864"/>
            <a:ext cx="1028700" cy="0"/>
          </a:xfrm>
          <a:prstGeom prst="line">
            <a:avLst/>
          </a:prstGeom>
          <a:noFill/>
          <a:ln w="19050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13" name="Aufgabe Automatische Freigabe"/>
          <p:cNvSpPr/>
          <p:nvPr/>
        </p:nvSpPr>
        <p:spPr>
          <a:xfrm>
            <a:off x="5577840" y="3154680"/>
            <a:ext cx="31089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21212"/>
            </a:solidFill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Automatische Freigabe</a:t>
            </a:r>
            <a:endParaRPr lang="en-US" sz="1600" dirty="0"/>
          </a:p>
        </p:txBody>
      </p:sp>
      <p:sp>
        <p:nvSpPr>
          <p:cNvPr id="14" name="Sequenzfluss"/>
          <p:cNvSpPr/>
          <p:nvPr/>
        </p:nvSpPr>
        <p:spPr>
          <a:xfrm>
            <a:off x="4892040" y="4535424"/>
            <a:ext cx="685800" cy="0"/>
          </a:xfrm>
          <a:prstGeom prst="line">
            <a:avLst/>
          </a:prstGeom>
          <a:noFill/>
          <a:ln w="19050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15" name="Aufgabe Ablehnung"/>
          <p:cNvSpPr/>
          <p:nvPr/>
        </p:nvSpPr>
        <p:spPr>
          <a:xfrm>
            <a:off x="5577840" y="4206240"/>
            <a:ext cx="31089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21212"/>
            </a:solidFill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Ablehnung</a:t>
            </a:r>
            <a:endParaRPr lang="en-US" sz="1600" dirty="0"/>
          </a:p>
        </p:txBody>
      </p:sp>
      <p:sp>
        <p:nvSpPr>
          <p:cNvPr id="16" name="Sequenzfluss"/>
          <p:cNvSpPr/>
          <p:nvPr/>
        </p:nvSpPr>
        <p:spPr>
          <a:xfrm>
            <a:off x="4549140" y="4878324"/>
            <a:ext cx="0" cy="708660"/>
          </a:xfrm>
          <a:prstGeom prst="line">
            <a:avLst/>
          </a:prstGeom>
          <a:noFill/>
          <a:ln w="19050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17" name="Sequenzfluss"/>
          <p:cNvSpPr/>
          <p:nvPr/>
        </p:nvSpPr>
        <p:spPr>
          <a:xfrm>
            <a:off x="4549140" y="5586984"/>
            <a:ext cx="1028700" cy="0"/>
          </a:xfrm>
          <a:prstGeom prst="line">
            <a:avLst/>
          </a:prstGeom>
          <a:noFill/>
          <a:ln w="19050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18" name="Aufgabe Manuelle Prüfung"/>
          <p:cNvSpPr/>
          <p:nvPr/>
        </p:nvSpPr>
        <p:spPr>
          <a:xfrm>
            <a:off x="5577840" y="5257800"/>
            <a:ext cx="31089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21212"/>
            </a:solidFill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Manuelle Prüfung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7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Der Prozess (BPMN)</a:t>
            </a:r>
            <a:endParaRPr lang="en-US" sz="3000" dirty="0"/>
          </a:p>
        </p:txBody>
      </p:sp>
      <p:pic>
        <p:nvPicPr>
          <p:cNvPr id="3" name="BPMN-Diagramm" descr="BPMN-Prozess: Prüfung nach Regeln, Prüfung mit LLM, manuelle Prüfung, Freigabe oder Ablehnu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8950"/>
            <a:ext cx="11094415" cy="346018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7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Die Regeln (DMN)</a:t>
            </a:r>
            <a:endParaRPr lang="en-US" sz="3000" dirty="0"/>
          </a:p>
        </p:txBody>
      </p:sp>
      <p:graphicFrame>
        <p:nvGraphicFramePr>
          <p:cNvPr id="6" name="Regeltabel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6766560"/>
                <a:gridCol w="3047695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Regel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Bedingung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Folge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R1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Kunde nicht selbst wirtschaftlich berechtigt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manuelle Prüfung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R2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PEP-Status bestätigt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manuelle Prüfung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R3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Möglicher Screening-Treffer ungeklärt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manuelle Prüfung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R4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USA-Bezug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manuelle Prüfung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R5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Bestätigter Sanktionstreffer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Ablehnung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7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Am Anfang steht ein Datensatz</a:t>
            </a:r>
            <a:endParaRPr lang="en-US" sz="3000" dirty="0"/>
          </a:p>
        </p:txBody>
      </p:sp>
      <p:sp>
        <p:nvSpPr>
          <p:cNvPr id="3" name="Kennzahl synthetische Anträge"/>
          <p:cNvSpPr/>
          <p:nvPr/>
        </p:nvSpPr>
        <p:spPr>
          <a:xfrm>
            <a:off x="548640" y="1920240"/>
            <a:ext cx="2499284" cy="2377440"/>
          </a:xfrm>
          <a:prstGeom prst="roundRect">
            <a:avLst>
              <a:gd name="adj" fmla="val 4615"/>
            </a:avLst>
          </a:prstGeom>
          <a:solidFill>
            <a:srgbClr val="F4F4F4"/>
          </a:solidFill>
          <a:ln w="19050">
            <a:solidFill>
              <a:srgbClr val="121212"/>
            </a:solidFill>
            <a:prstDash val="solid"/>
          </a:ln>
        </p:spPr>
      </p:sp>
      <p:sp>
        <p:nvSpPr>
          <p:cNvPr id="4" name="Zahl synthetische Anträge"/>
          <p:cNvSpPr txBox="1"/>
          <p:nvPr/>
        </p:nvSpPr>
        <p:spPr>
          <a:xfrm>
            <a:off x="548640" y="2240280"/>
            <a:ext cx="24992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6.000</a:t>
            </a:r>
            <a:endParaRPr lang="en-US" sz="4400" dirty="0"/>
          </a:p>
        </p:txBody>
      </p:sp>
      <p:sp>
        <p:nvSpPr>
          <p:cNvPr id="5" name="Beschriftung synthetische Anträge"/>
          <p:cNvSpPr txBox="1"/>
          <p:nvPr/>
        </p:nvSpPr>
        <p:spPr>
          <a:xfrm>
            <a:off x="548640" y="3337560"/>
            <a:ext cx="2499284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synthetische Anträge</a:t>
            </a:r>
            <a:endParaRPr lang="en-US" sz="1600" dirty="0"/>
          </a:p>
        </p:txBody>
      </p:sp>
      <p:sp>
        <p:nvSpPr>
          <p:cNvPr id="6" name="Kennzahl Training"/>
          <p:cNvSpPr/>
          <p:nvPr/>
        </p:nvSpPr>
        <p:spPr>
          <a:xfrm>
            <a:off x="3413684" y="1920240"/>
            <a:ext cx="2499284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121212"/>
            </a:solidFill>
            <a:prstDash val="solid"/>
          </a:ln>
        </p:spPr>
      </p:sp>
      <p:sp>
        <p:nvSpPr>
          <p:cNvPr id="7" name="Zahl Training"/>
          <p:cNvSpPr txBox="1"/>
          <p:nvPr/>
        </p:nvSpPr>
        <p:spPr>
          <a:xfrm>
            <a:off x="3413684" y="2240280"/>
            <a:ext cx="24992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4.781</a:t>
            </a:r>
            <a:endParaRPr lang="en-US" sz="4400" dirty="0"/>
          </a:p>
        </p:txBody>
      </p:sp>
      <p:sp>
        <p:nvSpPr>
          <p:cNvPr id="8" name="Beschriftung Training"/>
          <p:cNvSpPr txBox="1"/>
          <p:nvPr/>
        </p:nvSpPr>
        <p:spPr>
          <a:xfrm>
            <a:off x="3413684" y="3337560"/>
            <a:ext cx="2499284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Training</a:t>
            </a:r>
            <a:endParaRPr lang="en-US" sz="1600" dirty="0"/>
          </a:p>
        </p:txBody>
      </p:sp>
      <p:sp>
        <p:nvSpPr>
          <p:cNvPr id="9" name="Kennzahl Validierung"/>
          <p:cNvSpPr/>
          <p:nvPr/>
        </p:nvSpPr>
        <p:spPr>
          <a:xfrm>
            <a:off x="6278728" y="1920240"/>
            <a:ext cx="2499284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121212"/>
            </a:solidFill>
            <a:prstDash val="solid"/>
          </a:ln>
        </p:spPr>
      </p:sp>
      <p:sp>
        <p:nvSpPr>
          <p:cNvPr id="10" name="Zahl Validierung"/>
          <p:cNvSpPr txBox="1"/>
          <p:nvPr/>
        </p:nvSpPr>
        <p:spPr>
          <a:xfrm>
            <a:off x="6278728" y="2240280"/>
            <a:ext cx="24992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598</a:t>
            </a:r>
            <a:endParaRPr lang="en-US" sz="4400" dirty="0"/>
          </a:p>
        </p:txBody>
      </p:sp>
      <p:sp>
        <p:nvSpPr>
          <p:cNvPr id="11" name="Beschriftung Validierung"/>
          <p:cNvSpPr txBox="1"/>
          <p:nvPr/>
        </p:nvSpPr>
        <p:spPr>
          <a:xfrm>
            <a:off x="6278728" y="3337560"/>
            <a:ext cx="2499284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Validierung</a:t>
            </a:r>
            <a:endParaRPr lang="en-US" sz="1600" dirty="0"/>
          </a:p>
        </p:txBody>
      </p:sp>
      <p:sp>
        <p:nvSpPr>
          <p:cNvPr id="12" name="Kennzahl Test"/>
          <p:cNvSpPr/>
          <p:nvPr/>
        </p:nvSpPr>
        <p:spPr>
          <a:xfrm>
            <a:off x="9143771" y="1920240"/>
            <a:ext cx="2499284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121212"/>
            </a:solidFill>
            <a:prstDash val="solid"/>
          </a:ln>
        </p:spPr>
      </p:sp>
      <p:sp>
        <p:nvSpPr>
          <p:cNvPr id="13" name="Zahl Test"/>
          <p:cNvSpPr txBox="1"/>
          <p:nvPr/>
        </p:nvSpPr>
        <p:spPr>
          <a:xfrm>
            <a:off x="9143771" y="2240280"/>
            <a:ext cx="24992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621</a:t>
            </a:r>
            <a:endParaRPr lang="en-US" sz="4400" dirty="0"/>
          </a:p>
        </p:txBody>
      </p:sp>
      <p:sp>
        <p:nvSpPr>
          <p:cNvPr id="14" name="Beschriftung Test"/>
          <p:cNvSpPr txBox="1"/>
          <p:nvPr/>
        </p:nvSpPr>
        <p:spPr>
          <a:xfrm>
            <a:off x="9143771" y="3337560"/>
            <a:ext cx="2499284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Test</a:t>
            </a:r>
            <a:endParaRPr lang="en-US" sz="1600" dirty="0"/>
          </a:p>
        </p:txBody>
      </p:sp>
      <p:sp>
        <p:nvSpPr>
          <p:cNvPr id="15" name="Hinweis Datensatz"/>
          <p:cNvSpPr txBox="1"/>
          <p:nvPr/>
        </p:nvSpPr>
        <p:spPr>
          <a:xfrm>
            <a:off x="548640" y="4754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7575"/>
                </a:solidFill>
              </a:rPr>
              <a:t>Fälle mit bekannter Sollentscheidung · Familien getrennt nach Split · Texte aus Vorlagen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7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Das Modell: Laya Multilingual</a:t>
            </a:r>
            <a:endParaRPr lang="en-US" sz="3000" dirty="0"/>
          </a:p>
        </p:txBody>
      </p:sp>
      <p:sp>
        <p:nvSpPr>
          <p:cNvPr id="3" name="Parameterzahl"/>
          <p:cNvSpPr txBox="1"/>
          <p:nvPr/>
        </p:nvSpPr>
        <p:spPr>
          <a:xfrm>
            <a:off x="548640" y="20116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</a:rPr>
              <a:t>322 Mio.</a:t>
            </a:r>
            <a:endParaRPr lang="en-US" sz="6000" dirty="0"/>
          </a:p>
        </p:txBody>
      </p:sp>
      <p:sp>
        <p:nvSpPr>
          <p:cNvPr id="4" name="Beschriftung Parameter"/>
          <p:cNvSpPr txBox="1"/>
          <p:nvPr/>
        </p:nvSpPr>
        <p:spPr>
          <a:xfrm>
            <a:off x="548640" y="3108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57575"/>
                </a:solidFill>
              </a:rPr>
              <a:t>Parameter · Apache-2.0</a:t>
            </a:r>
            <a:endParaRPr lang="en-US" sz="1600" dirty="0"/>
          </a:p>
        </p:txBody>
      </p:sp>
      <p:sp>
        <p:nvSpPr>
          <p:cNvPr id="5" name="Aufgabe Entscheidungsmodell stat"/>
          <p:cNvSpPr/>
          <p:nvPr/>
        </p:nvSpPr>
        <p:spPr>
          <a:xfrm>
            <a:off x="5120640" y="1600200"/>
            <a:ext cx="6522415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9050">
            <a:solidFill>
              <a:srgbClr val="121212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Entscheidungsmodell statt Chatbot</a:t>
            </a:r>
            <a:endParaRPr lang="en-US" sz="1800" dirty="0"/>
          </a:p>
        </p:txBody>
      </p:sp>
      <p:sp>
        <p:nvSpPr>
          <p:cNvPr id="6" name="Aufgabe Lokal trainiert"/>
          <p:cNvSpPr/>
          <p:nvPr/>
        </p:nvSpPr>
        <p:spPr>
          <a:xfrm>
            <a:off x="5120640" y="2834640"/>
            <a:ext cx="6522415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9050">
            <a:solidFill>
              <a:srgbClr val="121212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Lokal trainiert</a:t>
            </a:r>
            <a:endParaRPr lang="en-US" sz="1800" dirty="0"/>
          </a:p>
        </p:txBody>
      </p:sp>
      <p:sp>
        <p:nvSpPr>
          <p:cNvPr id="7" name="Aufgabe Weitere Modelle möglich"/>
          <p:cNvSpPr/>
          <p:nvPr/>
        </p:nvSpPr>
        <p:spPr>
          <a:xfrm>
            <a:off x="5120640" y="4069080"/>
            <a:ext cx="6522415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9050">
            <a:solidFill>
              <a:srgbClr val="121212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Weitere Modelle möglich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7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Anlernen – und jederzeit wiederholen</a:t>
            </a:r>
            <a:endParaRPr lang="en-US" sz="3000" dirty="0"/>
          </a:p>
        </p:txBody>
      </p:sp>
      <p:sp>
        <p:nvSpPr>
          <p:cNvPr id="3" name="Trainingsdauer 5.000"/>
          <p:cNvSpPr/>
          <p:nvPr/>
        </p:nvSpPr>
        <p:spPr>
          <a:xfrm>
            <a:off x="548640" y="1417320"/>
            <a:ext cx="2533574" cy="2011680"/>
          </a:xfrm>
          <a:prstGeom prst="roundRect">
            <a:avLst>
              <a:gd name="adj" fmla="val 5455"/>
            </a:avLst>
          </a:prstGeom>
          <a:solidFill>
            <a:srgbClr val="F4F4F4"/>
          </a:solidFill>
          <a:ln w="19050">
            <a:solidFill>
              <a:srgbClr val="121212"/>
            </a:solidFill>
            <a:prstDash val="solid"/>
          </a:ln>
        </p:spPr>
      </p:sp>
      <p:sp>
        <p:nvSpPr>
          <p:cNvPr id="4" name="Datensätze 5.000"/>
          <p:cNvSpPr txBox="1"/>
          <p:nvPr/>
        </p:nvSpPr>
        <p:spPr>
          <a:xfrm>
            <a:off x="548640" y="1600200"/>
            <a:ext cx="25335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5.000</a:t>
            </a:r>
            <a:endParaRPr lang="en-US" sz="2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</a:rPr>
              <a:t>Datensätze</a:t>
            </a:r>
            <a:endParaRPr lang="en-US" sz="2400" dirty="0"/>
          </a:p>
        </p:txBody>
      </p:sp>
      <p:sp>
        <p:nvSpPr>
          <p:cNvPr id="5" name="Dauer 5.000"/>
          <p:cNvSpPr txBox="1"/>
          <p:nvPr/>
        </p:nvSpPr>
        <p:spPr>
          <a:xfrm>
            <a:off x="548640" y="2468880"/>
            <a:ext cx="2533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1,6 h</a:t>
            </a:r>
            <a:endParaRPr lang="en-US" sz="2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</a:rPr>
              <a:t>gemessen</a:t>
            </a:r>
            <a:endParaRPr lang="en-US" sz="2800" dirty="0"/>
          </a:p>
        </p:txBody>
      </p:sp>
      <p:sp>
        <p:nvSpPr>
          <p:cNvPr id="6" name="Trainingsdauer 20.000"/>
          <p:cNvSpPr/>
          <p:nvPr/>
        </p:nvSpPr>
        <p:spPr>
          <a:xfrm>
            <a:off x="3402254" y="1417320"/>
            <a:ext cx="2533574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121212"/>
            </a:solidFill>
            <a:prstDash val="solid"/>
          </a:ln>
        </p:spPr>
      </p:sp>
      <p:sp>
        <p:nvSpPr>
          <p:cNvPr id="7" name="Datensätze 20.000"/>
          <p:cNvSpPr txBox="1"/>
          <p:nvPr/>
        </p:nvSpPr>
        <p:spPr>
          <a:xfrm>
            <a:off x="3402254" y="1600200"/>
            <a:ext cx="25335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20.000</a:t>
            </a:r>
            <a:endParaRPr lang="en-US" sz="2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</a:rPr>
              <a:t>Datensätze</a:t>
            </a:r>
            <a:endParaRPr lang="en-US" sz="2400" dirty="0"/>
          </a:p>
        </p:txBody>
      </p:sp>
      <p:sp>
        <p:nvSpPr>
          <p:cNvPr id="8" name="Dauer 20.000"/>
          <p:cNvSpPr txBox="1"/>
          <p:nvPr/>
        </p:nvSpPr>
        <p:spPr>
          <a:xfrm>
            <a:off x="3402254" y="2468880"/>
            <a:ext cx="2533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6 h</a:t>
            </a:r>
            <a:endParaRPr lang="en-US" sz="2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</a:rPr>
              <a:t>hochgerechnet</a:t>
            </a:r>
            <a:endParaRPr lang="en-US" sz="2800" dirty="0"/>
          </a:p>
        </p:txBody>
      </p:sp>
      <p:sp>
        <p:nvSpPr>
          <p:cNvPr id="9" name="Trainingsdauer 50.000"/>
          <p:cNvSpPr/>
          <p:nvPr/>
        </p:nvSpPr>
        <p:spPr>
          <a:xfrm>
            <a:off x="6255868" y="1417320"/>
            <a:ext cx="2533574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121212"/>
            </a:solidFill>
            <a:prstDash val="solid"/>
          </a:ln>
        </p:spPr>
      </p:sp>
      <p:sp>
        <p:nvSpPr>
          <p:cNvPr id="10" name="Datensätze 50.000"/>
          <p:cNvSpPr txBox="1"/>
          <p:nvPr/>
        </p:nvSpPr>
        <p:spPr>
          <a:xfrm>
            <a:off x="6255868" y="1600200"/>
            <a:ext cx="25335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50.000</a:t>
            </a:r>
            <a:endParaRPr lang="en-US" sz="2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</a:rPr>
              <a:t>Datensätze</a:t>
            </a:r>
            <a:endParaRPr lang="en-US" sz="2400" dirty="0"/>
          </a:p>
        </p:txBody>
      </p:sp>
      <p:sp>
        <p:nvSpPr>
          <p:cNvPr id="11" name="Dauer 50.000"/>
          <p:cNvSpPr txBox="1"/>
          <p:nvPr/>
        </p:nvSpPr>
        <p:spPr>
          <a:xfrm>
            <a:off x="6255868" y="2468880"/>
            <a:ext cx="2533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15 h</a:t>
            </a:r>
            <a:endParaRPr lang="en-US" sz="2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</a:rPr>
              <a:t>hochgerechnet</a:t>
            </a:r>
            <a:endParaRPr lang="en-US" sz="2800" dirty="0"/>
          </a:p>
        </p:txBody>
      </p:sp>
      <p:sp>
        <p:nvSpPr>
          <p:cNvPr id="12" name="Trainingsdauer 1.000.000"/>
          <p:cNvSpPr/>
          <p:nvPr/>
        </p:nvSpPr>
        <p:spPr>
          <a:xfrm>
            <a:off x="9109481" y="1417320"/>
            <a:ext cx="2533574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121212"/>
            </a:solidFill>
            <a:prstDash val="solid"/>
          </a:ln>
        </p:spPr>
      </p:sp>
      <p:sp>
        <p:nvSpPr>
          <p:cNvPr id="13" name="Datensätze 1.000.000"/>
          <p:cNvSpPr txBox="1"/>
          <p:nvPr/>
        </p:nvSpPr>
        <p:spPr>
          <a:xfrm>
            <a:off x="9109481" y="1600200"/>
            <a:ext cx="25335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1.000.000</a:t>
            </a:r>
            <a:endParaRPr lang="en-US" sz="2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</a:rPr>
              <a:t>Datensätze</a:t>
            </a:r>
            <a:endParaRPr lang="en-US" sz="2400" dirty="0"/>
          </a:p>
        </p:txBody>
      </p:sp>
      <p:sp>
        <p:nvSpPr>
          <p:cNvPr id="14" name="Dauer 1.000.000"/>
          <p:cNvSpPr txBox="1"/>
          <p:nvPr/>
        </p:nvSpPr>
        <p:spPr>
          <a:xfrm>
            <a:off x="9109481" y="2468880"/>
            <a:ext cx="2533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12 Tage</a:t>
            </a:r>
            <a:endParaRPr lang="en-US" sz="2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</a:rPr>
              <a:t>1 Epoche: 4 Tage</a:t>
            </a:r>
            <a:endParaRPr lang="en-US" sz="2800" dirty="0"/>
          </a:p>
        </p:txBody>
      </p:sp>
      <p:sp>
        <p:nvSpPr>
          <p:cNvPr id="15" name="Schritt Daten ergänzen"/>
          <p:cNvSpPr/>
          <p:nvPr/>
        </p:nvSpPr>
        <p:spPr>
          <a:xfrm>
            <a:off x="548640" y="3931920"/>
            <a:ext cx="2396414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21212"/>
            </a:solidFill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Daten ergänzen</a:t>
            </a:r>
            <a:endParaRPr lang="en-US" sz="1400" dirty="0"/>
          </a:p>
        </p:txBody>
      </p:sp>
      <p:sp>
        <p:nvSpPr>
          <p:cNvPr id="16" name="Sequenzfluss"/>
          <p:cNvSpPr/>
          <p:nvPr/>
        </p:nvSpPr>
        <p:spPr>
          <a:xfrm>
            <a:off x="2945054" y="4297680"/>
            <a:ext cx="502920" cy="0"/>
          </a:xfrm>
          <a:prstGeom prst="line">
            <a:avLst/>
          </a:prstGeom>
          <a:noFill/>
          <a:ln w="19050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17" name="Schritt Trainieren"/>
          <p:cNvSpPr/>
          <p:nvPr/>
        </p:nvSpPr>
        <p:spPr>
          <a:xfrm>
            <a:off x="3447974" y="3931920"/>
            <a:ext cx="2396414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21212"/>
            </a:solidFill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Trainieren</a:t>
            </a:r>
            <a:endParaRPr lang="en-US" sz="1400" dirty="0"/>
          </a:p>
        </p:txBody>
      </p:sp>
      <p:sp>
        <p:nvSpPr>
          <p:cNvPr id="18" name="Sequenzfluss"/>
          <p:cNvSpPr/>
          <p:nvPr/>
        </p:nvSpPr>
        <p:spPr>
          <a:xfrm>
            <a:off x="5844388" y="4297680"/>
            <a:ext cx="502920" cy="0"/>
          </a:xfrm>
          <a:prstGeom prst="line">
            <a:avLst/>
          </a:prstGeom>
          <a:noFill/>
          <a:ln w="19050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19" name="Schritt Prüfen: Test und Gegenproben"/>
          <p:cNvSpPr/>
          <p:nvPr/>
        </p:nvSpPr>
        <p:spPr>
          <a:xfrm>
            <a:off x="6347308" y="3931920"/>
            <a:ext cx="2396414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21212"/>
            </a:solidFill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Prüfen: Test und Gegenproben</a:t>
            </a:r>
            <a:endParaRPr lang="en-US" sz="1400" dirty="0"/>
          </a:p>
        </p:txBody>
      </p:sp>
      <p:sp>
        <p:nvSpPr>
          <p:cNvPr id="20" name="Sequenzfluss"/>
          <p:cNvSpPr/>
          <p:nvPr/>
        </p:nvSpPr>
        <p:spPr>
          <a:xfrm>
            <a:off x="8743721" y="4297680"/>
            <a:ext cx="502920" cy="0"/>
          </a:xfrm>
          <a:prstGeom prst="line">
            <a:avLst/>
          </a:prstGeom>
          <a:noFill/>
          <a:ln w="19050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21" name="Schritt Modell tauschen"/>
          <p:cNvSpPr/>
          <p:nvPr/>
        </p:nvSpPr>
        <p:spPr>
          <a:xfrm>
            <a:off x="9246641" y="3931920"/>
            <a:ext cx="2396414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21212"/>
            </a:solidFill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Modell tauschen</a:t>
            </a:r>
            <a:endParaRPr lang="en-US" sz="1400" dirty="0"/>
          </a:p>
        </p:txBody>
      </p:sp>
      <p:sp>
        <p:nvSpPr>
          <p:cNvPr id="22" name="Sequenzfluss"/>
          <p:cNvSpPr/>
          <p:nvPr/>
        </p:nvSpPr>
        <p:spPr>
          <a:xfrm>
            <a:off x="10444848" y="4663440"/>
            <a:ext cx="0" cy="365760"/>
          </a:xfrm>
          <a:prstGeom prst="line">
            <a:avLst/>
          </a:prstGeom>
          <a:noFill/>
          <a:ln w="19050">
            <a:solidFill>
              <a:srgbClr val="121212"/>
            </a:solidFill>
            <a:prstDash val="solid"/>
          </a:ln>
        </p:spPr>
      </p:sp>
      <p:sp>
        <p:nvSpPr>
          <p:cNvPr id="23" name="Sequenzfluss"/>
          <p:cNvSpPr/>
          <p:nvPr/>
        </p:nvSpPr>
        <p:spPr>
          <a:xfrm>
            <a:off x="1746847" y="5029200"/>
            <a:ext cx="8698001" cy="0"/>
          </a:xfrm>
          <a:prstGeom prst="line">
            <a:avLst/>
          </a:prstGeom>
          <a:noFill/>
          <a:ln w="19050">
            <a:solidFill>
              <a:srgbClr val="121212"/>
            </a:solidFill>
            <a:prstDash val="solid"/>
          </a:ln>
        </p:spPr>
      </p:sp>
      <p:sp>
        <p:nvSpPr>
          <p:cNvPr id="24" name="Sequenzfluss"/>
          <p:cNvSpPr/>
          <p:nvPr/>
        </p:nvSpPr>
        <p:spPr>
          <a:xfrm flipV="1">
            <a:off x="1746847" y="4663440"/>
            <a:ext cx="0" cy="365760"/>
          </a:xfrm>
          <a:prstGeom prst="line">
            <a:avLst/>
          </a:prstGeom>
          <a:noFill/>
          <a:ln w="19050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25" name="Hinweis Kreislauf"/>
          <p:cNvSpPr txBox="1"/>
          <p:nvPr/>
        </p:nvSpPr>
        <p:spPr>
          <a:xfrm>
            <a:off x="822960" y="5138928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</a:rPr>
              <a:t>Nachtrainieren ist ein Skriptlauf: neue Fälle rein, Modell raus – der Prozess bleibt unverändert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7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Warum kein großes LLM wie Fable?</a:t>
            </a:r>
            <a:endParaRPr lang="en-US" sz="3000" dirty="0"/>
          </a:p>
        </p:txBody>
      </p:sp>
      <p:sp>
        <p:nvSpPr>
          <p:cNvPr id="3" name="Aufgabe Datenschutz"/>
          <p:cNvSpPr/>
          <p:nvPr/>
        </p:nvSpPr>
        <p:spPr>
          <a:xfrm>
            <a:off x="548640" y="1691640"/>
            <a:ext cx="5364328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121212"/>
            </a:solidFill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Datenschutz</a:t>
            </a:r>
            <a:endParaRPr lang="en-US" sz="2400" dirty="0"/>
          </a:p>
        </p:txBody>
      </p:sp>
      <p:sp>
        <p:nvSpPr>
          <p:cNvPr id="4" name="Aufgabe Kosten und Tempo"/>
          <p:cNvSpPr/>
          <p:nvPr/>
        </p:nvSpPr>
        <p:spPr>
          <a:xfrm>
            <a:off x="6278728" y="1691640"/>
            <a:ext cx="5364328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121212"/>
            </a:solidFill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Kosten und Tempo</a:t>
            </a:r>
            <a:endParaRPr lang="en-US" sz="2400" dirty="0"/>
          </a:p>
        </p:txBody>
      </p:sp>
      <p:sp>
        <p:nvSpPr>
          <p:cNvPr id="5" name="Aufgabe Kontrolle"/>
          <p:cNvSpPr/>
          <p:nvPr/>
        </p:nvSpPr>
        <p:spPr>
          <a:xfrm>
            <a:off x="548640" y="3566160"/>
            <a:ext cx="5364328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121212"/>
            </a:solidFill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Kontrolle</a:t>
            </a:r>
            <a:endParaRPr lang="en-US" sz="2400" dirty="0"/>
          </a:p>
        </p:txBody>
      </p:sp>
      <p:sp>
        <p:nvSpPr>
          <p:cNvPr id="6" name="Aufgabe Prüfbarkeit"/>
          <p:cNvSpPr/>
          <p:nvPr/>
        </p:nvSpPr>
        <p:spPr>
          <a:xfrm>
            <a:off x="6278728" y="3566160"/>
            <a:ext cx="5364328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121212"/>
            </a:solidFill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Prüfbarkeit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7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Live-Demo</a:t>
            </a:r>
            <a:endParaRPr lang="en-US" sz="3000" dirty="0"/>
          </a:p>
        </p:txBody>
      </p:sp>
      <p:sp>
        <p:nvSpPr>
          <p:cNvPr id="3" name="Startereignis"/>
          <p:cNvSpPr/>
          <p:nvPr/>
        </p:nvSpPr>
        <p:spPr>
          <a:xfrm>
            <a:off x="548640" y="2962656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21212"/>
            </a:solidFill>
            <a:prstDash val="solid"/>
          </a:ln>
        </p:spPr>
      </p:sp>
      <p:sp>
        <p:nvSpPr>
          <p:cNvPr id="4" name="Sequenzfluss"/>
          <p:cNvSpPr/>
          <p:nvPr/>
        </p:nvSpPr>
        <p:spPr>
          <a:xfrm>
            <a:off x="932688" y="3154680"/>
            <a:ext cx="201168" cy="0"/>
          </a:xfrm>
          <a:prstGeom prst="line">
            <a:avLst/>
          </a:prstGeom>
          <a:noFill/>
          <a:ln w="19050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5" name="Demo K01"/>
          <p:cNvSpPr/>
          <p:nvPr/>
        </p:nvSpPr>
        <p:spPr>
          <a:xfrm>
            <a:off x="1133856" y="2377440"/>
            <a:ext cx="1486357" cy="1554480"/>
          </a:xfrm>
          <a:prstGeom prst="roundRect">
            <a:avLst>
              <a:gd name="adj" fmla="val 7382"/>
            </a:avLst>
          </a:prstGeom>
          <a:solidFill>
            <a:srgbClr val="FFFFFF"/>
          </a:solidFill>
          <a:ln w="19050">
            <a:solidFill>
              <a:srgbClr val="12121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K01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Automatische Freigabe</a:t>
            </a:r>
            <a:endParaRPr lang="en-US" sz="1300" dirty="0"/>
          </a:p>
        </p:txBody>
      </p:sp>
      <p:sp>
        <p:nvSpPr>
          <p:cNvPr id="6" name="Sequenzfluss"/>
          <p:cNvSpPr/>
          <p:nvPr/>
        </p:nvSpPr>
        <p:spPr>
          <a:xfrm>
            <a:off x="2620213" y="3154680"/>
            <a:ext cx="201168" cy="0"/>
          </a:xfrm>
          <a:prstGeom prst="line">
            <a:avLst/>
          </a:prstGeom>
          <a:noFill/>
          <a:ln w="19050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7" name="Demo K11"/>
          <p:cNvSpPr/>
          <p:nvPr/>
        </p:nvSpPr>
        <p:spPr>
          <a:xfrm>
            <a:off x="2821381" y="2377440"/>
            <a:ext cx="1486357" cy="1554480"/>
          </a:xfrm>
          <a:prstGeom prst="roundRect">
            <a:avLst>
              <a:gd name="adj" fmla="val 7382"/>
            </a:avLst>
          </a:prstGeom>
          <a:solidFill>
            <a:srgbClr val="FFFFFF"/>
          </a:solidFill>
          <a:ln w="19050">
            <a:solidFill>
              <a:srgbClr val="12121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K11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Geschäftliche Nutzung</a:t>
            </a:r>
            <a:endParaRPr lang="en-US" sz="1300" dirty="0"/>
          </a:p>
        </p:txBody>
      </p:sp>
      <p:sp>
        <p:nvSpPr>
          <p:cNvPr id="8" name="Sequenzfluss"/>
          <p:cNvSpPr/>
          <p:nvPr/>
        </p:nvSpPr>
        <p:spPr>
          <a:xfrm>
            <a:off x="4307738" y="3154680"/>
            <a:ext cx="201168" cy="0"/>
          </a:xfrm>
          <a:prstGeom prst="line">
            <a:avLst/>
          </a:prstGeom>
          <a:noFill/>
          <a:ln w="19050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9" name="Demo K06"/>
          <p:cNvSpPr/>
          <p:nvPr/>
        </p:nvSpPr>
        <p:spPr>
          <a:xfrm>
            <a:off x="4508906" y="2377440"/>
            <a:ext cx="1486357" cy="1554480"/>
          </a:xfrm>
          <a:prstGeom prst="roundRect">
            <a:avLst>
              <a:gd name="adj" fmla="val 7382"/>
            </a:avLst>
          </a:prstGeom>
          <a:solidFill>
            <a:srgbClr val="FFFFFF"/>
          </a:solidFill>
          <a:ln w="19050">
            <a:solidFill>
              <a:srgbClr val="12121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K06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USA-Bezug</a:t>
            </a:r>
            <a:endParaRPr lang="en-US" sz="1300" dirty="0"/>
          </a:p>
        </p:txBody>
      </p:sp>
      <p:sp>
        <p:nvSpPr>
          <p:cNvPr id="10" name="Sequenzfluss"/>
          <p:cNvSpPr/>
          <p:nvPr/>
        </p:nvSpPr>
        <p:spPr>
          <a:xfrm>
            <a:off x="5995264" y="3154680"/>
            <a:ext cx="201168" cy="0"/>
          </a:xfrm>
          <a:prstGeom prst="line">
            <a:avLst/>
          </a:prstGeom>
          <a:noFill/>
          <a:ln w="19050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11" name="Demo K15"/>
          <p:cNvSpPr/>
          <p:nvPr/>
        </p:nvSpPr>
        <p:spPr>
          <a:xfrm>
            <a:off x="6196432" y="2377440"/>
            <a:ext cx="1486357" cy="1554480"/>
          </a:xfrm>
          <a:prstGeom prst="roundRect">
            <a:avLst>
              <a:gd name="adj" fmla="val 7382"/>
            </a:avLst>
          </a:prstGeom>
          <a:solidFill>
            <a:srgbClr val="FFFFFF"/>
          </a:solidFill>
          <a:ln w="19050">
            <a:solidFill>
              <a:srgbClr val="12121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K15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Ablehnung durch Regel</a:t>
            </a:r>
            <a:endParaRPr lang="en-US" sz="1300" dirty="0"/>
          </a:p>
        </p:txBody>
      </p:sp>
      <p:sp>
        <p:nvSpPr>
          <p:cNvPr id="12" name="Sequenzfluss"/>
          <p:cNvSpPr/>
          <p:nvPr/>
        </p:nvSpPr>
        <p:spPr>
          <a:xfrm>
            <a:off x="7682789" y="3154680"/>
            <a:ext cx="201168" cy="0"/>
          </a:xfrm>
          <a:prstGeom prst="line">
            <a:avLst/>
          </a:prstGeom>
          <a:noFill/>
          <a:ln w="19050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13" name="Demo K13 / K14"/>
          <p:cNvSpPr/>
          <p:nvPr/>
        </p:nvSpPr>
        <p:spPr>
          <a:xfrm>
            <a:off x="7883957" y="2377440"/>
            <a:ext cx="1486357" cy="1554480"/>
          </a:xfrm>
          <a:prstGeom prst="roundRect">
            <a:avLst>
              <a:gd name="adj" fmla="val 7382"/>
            </a:avLst>
          </a:prstGeom>
          <a:solidFill>
            <a:srgbClr val="FFFFFF"/>
          </a:solidFill>
          <a:ln w="19050">
            <a:solidFill>
              <a:srgbClr val="12121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K13 / K14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Wohnadresse vs. Arbeitgeber</a:t>
            </a:r>
            <a:endParaRPr lang="en-US" sz="1300" dirty="0"/>
          </a:p>
        </p:txBody>
      </p:sp>
      <p:sp>
        <p:nvSpPr>
          <p:cNvPr id="14" name="Sequenzfluss"/>
          <p:cNvSpPr/>
          <p:nvPr/>
        </p:nvSpPr>
        <p:spPr>
          <a:xfrm>
            <a:off x="9370314" y="3154680"/>
            <a:ext cx="201168" cy="0"/>
          </a:xfrm>
          <a:prstGeom prst="line">
            <a:avLst/>
          </a:prstGeom>
          <a:noFill/>
          <a:ln w="19050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15" name="Demo Dashboard"/>
          <p:cNvSpPr/>
          <p:nvPr/>
        </p:nvSpPr>
        <p:spPr>
          <a:xfrm>
            <a:off x="9571482" y="2377440"/>
            <a:ext cx="1486357" cy="1554480"/>
          </a:xfrm>
          <a:prstGeom prst="roundRect">
            <a:avLst>
              <a:gd name="adj" fmla="val 7382"/>
            </a:avLst>
          </a:prstGeom>
          <a:solidFill>
            <a:srgbClr val="F4F4F4"/>
          </a:solidFill>
          <a:ln w="19050">
            <a:solidFill>
              <a:srgbClr val="12121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Postkorb und Dashboard</a:t>
            </a:r>
            <a:endParaRPr lang="en-US" sz="1300" dirty="0"/>
          </a:p>
        </p:txBody>
      </p:sp>
      <p:sp>
        <p:nvSpPr>
          <p:cNvPr id="16" name="Sequenzfluss"/>
          <p:cNvSpPr/>
          <p:nvPr/>
        </p:nvSpPr>
        <p:spPr>
          <a:xfrm>
            <a:off x="11057839" y="3154680"/>
            <a:ext cx="201168" cy="0"/>
          </a:xfrm>
          <a:prstGeom prst="line">
            <a:avLst/>
          </a:prstGeom>
          <a:noFill/>
          <a:ln w="19050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17" name="Endereignis"/>
          <p:cNvSpPr/>
          <p:nvPr/>
        </p:nvSpPr>
        <p:spPr>
          <a:xfrm>
            <a:off x="11259007" y="2962656"/>
            <a:ext cx="384048" cy="384048"/>
          </a:xfrm>
          <a:prstGeom prst="ellipse">
            <a:avLst/>
          </a:prstGeom>
          <a:solidFill>
            <a:srgbClr val="FFFFFF"/>
          </a:solidFill>
          <a:ln w="50800">
            <a:solidFill>
              <a:srgbClr val="12121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7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Die BPMN-Engine: Kogito und CIB flow</a:t>
            </a:r>
            <a:endParaRPr lang="en-US" sz="3000" dirty="0"/>
          </a:p>
        </p:txBody>
      </p:sp>
      <p:sp>
        <p:nvSpPr>
          <p:cNvPr id="3" name="Engine Für Microservices"/>
          <p:cNvSpPr/>
          <p:nvPr/>
        </p:nvSpPr>
        <p:spPr>
          <a:xfrm>
            <a:off x="548640" y="1463040"/>
            <a:ext cx="5364328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9050">
            <a:solidFill>
              <a:srgbClr val="121212"/>
            </a:solidFill>
            <a:prstDash val="solid"/>
          </a:ln>
        </p:spPr>
      </p:sp>
      <p:pic>
        <p:nvPicPr>
          <p:cNvPr id="4" name="Logo Kogito" descr="Logo Kogi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92321"/>
            <a:ext cx="2377440" cy="667319"/>
          </a:xfrm>
          <a:prstGeom prst="rect">
            <a:avLst/>
          </a:prstGeom>
        </p:spPr>
      </p:pic>
      <p:sp>
        <p:nvSpPr>
          <p:cNvPr id="5" name="Einsatz Für Microservices"/>
          <p:cNvSpPr txBox="1"/>
          <p:nvPr/>
        </p:nvSpPr>
        <p:spPr>
          <a:xfrm>
            <a:off x="914400" y="2651760"/>
            <a:ext cx="463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Für Microservices</a:t>
            </a:r>
            <a:endParaRPr lang="en-US" sz="2000" dirty="0"/>
          </a:p>
        </p:txBody>
      </p:sp>
      <p:sp>
        <p:nvSpPr>
          <p:cNvPr id="6" name="Merkmale Für Microservices"/>
          <p:cNvSpPr txBox="1"/>
          <p:nvPr/>
        </p:nvSpPr>
        <p:spPr>
          <a:xfrm>
            <a:off x="914400" y="3246120"/>
            <a:ext cx="4632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BPMN und DMN werden zu Java-Code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Quarkus-Dienst mit REST-API je Prozess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Open Source, Apache KIE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Superschnell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100% testbar</a:t>
            </a:r>
            <a:endParaRPr lang="en-US" sz="1500" dirty="0"/>
          </a:p>
        </p:txBody>
      </p:sp>
      <p:sp>
        <p:nvSpPr>
          <p:cNvPr id="7" name="Engine Für die Enterprise-Einbindung"/>
          <p:cNvSpPr/>
          <p:nvPr/>
        </p:nvSpPr>
        <p:spPr>
          <a:xfrm>
            <a:off x="6278728" y="1463040"/>
            <a:ext cx="5364328" cy="3794760"/>
          </a:xfrm>
          <a:prstGeom prst="roundRect">
            <a:avLst>
              <a:gd name="adj" fmla="val 2892"/>
            </a:avLst>
          </a:prstGeom>
          <a:solidFill>
            <a:srgbClr val="F4F4F4"/>
          </a:solidFill>
          <a:ln w="19050">
            <a:solidFill>
              <a:srgbClr val="121212"/>
            </a:solidFill>
            <a:prstDash val="solid"/>
          </a:ln>
        </p:spPr>
      </p:sp>
      <p:pic>
        <p:nvPicPr>
          <p:cNvPr id="8" name="Logo CIB flow" descr="Logo CI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488" y="1763601"/>
            <a:ext cx="1600200" cy="724757"/>
          </a:xfrm>
          <a:prstGeom prst="rect">
            <a:avLst/>
          </a:prstGeom>
        </p:spPr>
      </p:pic>
      <p:sp>
        <p:nvSpPr>
          <p:cNvPr id="9" name="Schriftzug flow"/>
          <p:cNvSpPr txBox="1"/>
          <p:nvPr/>
        </p:nvSpPr>
        <p:spPr>
          <a:xfrm>
            <a:off x="8381848" y="17830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flow</a:t>
            </a:r>
            <a:endParaRPr lang="en-US" sz="3000" dirty="0"/>
          </a:p>
        </p:txBody>
      </p:sp>
      <p:sp>
        <p:nvSpPr>
          <p:cNvPr id="10" name="Einsatz Für die Enterprise-Einbindung"/>
          <p:cNvSpPr txBox="1"/>
          <p:nvPr/>
        </p:nvSpPr>
        <p:spPr>
          <a:xfrm>
            <a:off x="6644488" y="2651760"/>
            <a:ext cx="463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Für die Enterprise-Einbindung</a:t>
            </a:r>
            <a:endParaRPr lang="en-US" sz="2000" dirty="0"/>
          </a:p>
        </p:txBody>
      </p:sp>
      <p:sp>
        <p:nvSpPr>
          <p:cNvPr id="11" name="Merkmale Für die Enterprise-Einbindung"/>
          <p:cNvSpPr txBox="1"/>
          <p:nvPr/>
        </p:nvSpPr>
        <p:spPr>
          <a:xfrm>
            <a:off x="6644488" y="3246120"/>
            <a:ext cx="4632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Taskliste und Formulare für User Tasks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Rechte, Rollen, Konnektoren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Engine CIB seven (Camunda-7-Fork)</a:t>
            </a:r>
            <a:endParaRPr lang="en-US" sz="1500" dirty="0"/>
          </a:p>
        </p:txBody>
      </p:sp>
      <p:sp>
        <p:nvSpPr>
          <p:cNvPr id="12" name="Zitatbalken"/>
          <p:cNvSpPr/>
          <p:nvPr/>
        </p:nvSpPr>
        <p:spPr>
          <a:xfrm>
            <a:off x="548640" y="5440680"/>
            <a:ext cx="68580" cy="68580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Empfehlung"/>
          <p:cNvSpPr txBox="1"/>
          <p:nvPr/>
        </p:nvSpPr>
        <p:spPr>
          <a:xfrm>
            <a:off x="822960" y="544068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Kogito für Microservices – für die Enterprise-Einbindung mit User Tasks empfehlen wir CIB flow.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7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3317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Fragen?</a:t>
            </a:r>
            <a:endParaRPr lang="en-US" sz="5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36576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Prozesse im Unternehmen · www.piu.de</a:t>
            </a:r>
            <a:endParaRPr lang="en-US" sz="2200" dirty="0"/>
          </a:p>
        </p:txBody>
      </p:sp>
      <p:sp>
        <p:nvSpPr>
          <p:cNvPr id="4" name="Startereignis"/>
          <p:cNvSpPr/>
          <p:nvPr/>
        </p:nvSpPr>
        <p:spPr>
          <a:xfrm>
            <a:off x="548640" y="5394960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21212"/>
            </a:solidFill>
            <a:prstDash val="solid"/>
          </a:ln>
        </p:spPr>
      </p:sp>
      <p:sp>
        <p:nvSpPr>
          <p:cNvPr id="5" name="Sequenzfluss"/>
          <p:cNvSpPr/>
          <p:nvPr/>
        </p:nvSpPr>
        <p:spPr>
          <a:xfrm>
            <a:off x="932688" y="5586984"/>
            <a:ext cx="621792" cy="0"/>
          </a:xfrm>
          <a:prstGeom prst="line">
            <a:avLst/>
          </a:prstGeom>
          <a:noFill/>
          <a:ln w="19050">
            <a:solidFill>
              <a:srgbClr val="121212"/>
            </a:solidFill>
            <a:prstDash val="solid"/>
            <a:tailEnd type="triangle"/>
          </a:ln>
        </p:spPr>
      </p:sp>
      <p:sp>
        <p:nvSpPr>
          <p:cNvPr id="6" name="Endereignis"/>
          <p:cNvSpPr/>
          <p:nvPr/>
        </p:nvSpPr>
        <p:spPr>
          <a:xfrm>
            <a:off x="1554480" y="5394960"/>
            <a:ext cx="384048" cy="384048"/>
          </a:xfrm>
          <a:prstGeom prst="ellipse">
            <a:avLst/>
          </a:prstGeom>
          <a:solidFill>
            <a:srgbClr val="FFFFFF"/>
          </a:solidFill>
          <a:ln w="50800">
            <a:solidFill>
              <a:srgbClr val="12121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piu Prozesse im Unternehmen">
  <a:themeElements>
    <a:clrScheme name="piu Prozesse im Unternehmen">
      <a:dk1>
        <a:srgbClr val="121212"/>
      </a:dk1>
      <a:lt1>
        <a:srgbClr val="FFFFFF"/>
      </a:lt1>
      <a:dk2>
        <a:srgbClr val="2B2B2B"/>
      </a:dk2>
      <a:lt2>
        <a:srgbClr val="F4F4F4"/>
      </a:lt2>
      <a:accent1>
        <a:srgbClr val="121212"/>
      </a:accent1>
      <a:accent2>
        <a:srgbClr val="757575"/>
      </a:accent2>
      <a:accent3>
        <a:srgbClr val="EFEFEF"/>
      </a:accent3>
      <a:accent4>
        <a:srgbClr val="2B2B2B"/>
      </a:accent4>
      <a:accent5>
        <a:srgbClr val="9B0103"/>
      </a:accent5>
      <a:accent6>
        <a:srgbClr val="ABB8C3"/>
      </a:accent6>
      <a:hlink>
        <a:srgbClr val="121212"/>
      </a:hlink>
      <a:folHlink>
        <a:srgbClr val="757575"/>
      </a:folHlink>
    </a:clrScheme>
    <a:fontScheme name="piu Prozesse im Unternehmen">
      <a:majorFont>
        <a:latin typeface="Menl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nl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piu – Prozesse im Unternehmen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Vertical AI im KYC-Prozess</dc:title>
  <dc:subject>PptxGenJS Presentation</dc:subject>
  <dc:creator>PptxGenJS</dc:creator>
  <cp:lastModifiedBy>PptxGenJS</cp:lastModifiedBy>
  <cp:revision>1</cp:revision>
  <dcterms:created xsi:type="dcterms:W3CDTF">2026-10-05T22:22:17Z</dcterms:created>
  <dcterms:modified xsi:type="dcterms:W3CDTF">2026-10-05T22:22:17Z</dcterms:modified>
</cp:coreProperties>
</file>